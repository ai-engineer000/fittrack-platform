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32918400" cy="43891200"/>
  <p:notesSz cx="7315200" cy="9601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5695" autoAdjust="0"/>
    <p:restoredTop sz="94660"/>
  </p:normalViewPr>
  <p:slideViewPr>
    <p:cSldViewPr snapToGrid="0" snapToObjects="1">
      <p:cViewPr>
        <p:scale>
          <a:sx n="50" d="100"/>
          <a:sy n="50" d="100"/>
        </p:scale>
        <p:origin x="-152" y="-74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918400" cy="438912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918400" cy="5486400"/>
          </a:xfrm>
          <a:prstGeom prst="rect">
            <a:avLst/>
          </a:prstGeom>
          <a:solidFill>
            <a:srgbClr val="0D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486400"/>
            <a:ext cx="32918400" cy="1371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721682"/>
            <a:ext cx="3108960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600" b="1">
                <a:solidFill>
                  <a:srgbClr val="FFFFFF"/>
                </a:solidFill>
              </a:defRPr>
            </a:pPr>
            <a:r>
              <a:rPr dirty="0">
                <a:latin typeface="Algerian" panose="04020705040A02060702" pitchFamily="82" charset="0"/>
              </a:rPr>
              <a:t>AI-POWERED FITNESS ASSESSMENT PLATFORM</a:t>
            </a:r>
          </a:p>
          <a:p>
            <a:pPr algn="ctr">
              <a:defRPr sz="2400" b="1">
                <a:solidFill>
                  <a:srgbClr val="38BDF8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Movement Analysis and Automated Fitness Assessment using Computer Vision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4039496"/>
            <a:ext cx="30723840" cy="1188720"/>
          </a:xfrm>
          <a:prstGeom prst="roundRect">
            <a:avLst/>
          </a:prstGeom>
          <a:solidFill>
            <a:srgbClr val="0A192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100" b="1">
                <a:solidFill>
                  <a:srgbClr val="FFFFFF"/>
                </a:solidFill>
              </a:defRPr>
            </a:pPr>
            <a:r>
              <a:rPr sz="3000" dirty="0">
                <a:solidFill>
                  <a:srgbClr val="FF0000"/>
                </a:solidFill>
                <a:latin typeface="Bodoni MT" panose="02070603080606020203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Presented by: Aakanksha Vidushi Pandey (BTAI2</a:t>
            </a:r>
            <a:r>
              <a:rPr lang="en-US" sz="3000" dirty="0">
                <a:solidFill>
                  <a:srgbClr val="FF0000"/>
                </a:solidFill>
                <a:latin typeface="Bodoni MT" panose="02070603080606020203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5O</a:t>
            </a:r>
            <a:r>
              <a:rPr sz="3000" dirty="0">
                <a:solidFill>
                  <a:srgbClr val="FF0000"/>
                </a:solidFill>
                <a:latin typeface="Bodoni MT" panose="02070603080606020203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1001) </a:t>
            </a:r>
            <a:r>
              <a:rPr lang="en-US" sz="3000" dirty="0">
                <a:solidFill>
                  <a:srgbClr val="FF0000"/>
                </a:solidFill>
                <a:latin typeface="Bodoni MT" panose="02070603080606020203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|</a:t>
            </a:r>
            <a:r>
              <a:rPr lang="en-IN" sz="3000" dirty="0">
                <a:solidFill>
                  <a:srgbClr val="FF0000"/>
                </a:solidFill>
                <a:latin typeface="Bodoni MT" panose="02070603080606020203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sz="3000" dirty="0">
                <a:solidFill>
                  <a:srgbClr val="FF0000"/>
                </a:solidFill>
                <a:latin typeface="Bodoni MT" panose="02070603080606020203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Dhruv Urmaliya (BTAI2</a:t>
            </a:r>
            <a:r>
              <a:rPr lang="en-US" sz="3000" dirty="0">
                <a:solidFill>
                  <a:srgbClr val="FF0000"/>
                </a:solidFill>
                <a:latin typeface="Bodoni MT" panose="02070603080606020203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5</a:t>
            </a:r>
            <a:r>
              <a:rPr sz="3000" dirty="0">
                <a:solidFill>
                  <a:srgbClr val="FF0000"/>
                </a:solidFill>
                <a:latin typeface="Bodoni MT" panose="02070603080606020203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O10</a:t>
            </a:r>
            <a:r>
              <a:rPr lang="en-US" sz="3000" dirty="0">
                <a:solidFill>
                  <a:srgbClr val="FF0000"/>
                </a:solidFill>
                <a:latin typeface="Bodoni MT" panose="02070603080606020203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5</a:t>
            </a:r>
            <a:r>
              <a:rPr sz="3000" dirty="0">
                <a:solidFill>
                  <a:srgbClr val="FF0000"/>
                </a:solidFill>
                <a:latin typeface="Bodoni MT" panose="02070603080606020203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2)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5943600"/>
            <a:ext cx="15087600" cy="3434033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97280" y="5943600"/>
            <a:ext cx="15087600" cy="82296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l">
              <a:defRPr sz="2000" b="1">
                <a:solidFill>
                  <a:srgbClr val="0A192F"/>
                </a:solidFill>
              </a:defRPr>
            </a:pPr>
            <a:r>
              <a:rPr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01 — INTRODUCTION &amp; OVERVIEW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6858000"/>
            <a:ext cx="14264640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0F172A"/>
                </a:solidFill>
              </a:defRPr>
            </a:pPr>
            <a:r>
              <a:rPr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AI-Powered Fitness Assessment Platform is an automated, computer-vision system designed to assist athletic trainers, academies, and coaches in conducting objective physical evaluations.</a:t>
            </a:r>
          </a:p>
          <a:p>
            <a:pPr>
              <a:defRPr sz="1500">
                <a:solidFill>
                  <a:srgbClr val="475569"/>
                </a:solidFill>
              </a:defRPr>
            </a:pPr>
            <a:r>
              <a:rPr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Replaces subjective human counting with real-time YOLO26-Pose estimation.</a:t>
            </a:r>
          </a:p>
          <a:p>
            <a:pPr>
              <a:defRPr sz="1500">
                <a:solidFill>
                  <a:srgbClr val="475569"/>
                </a:solidFill>
              </a:defRPr>
            </a:pPr>
            <a:r>
              <a:rPr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Extracts 17 full-body </a:t>
            </a:r>
            <a:r>
              <a:rPr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keypoints</a:t>
            </a:r>
            <a:r>
              <a:rPr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a standard webcam video feed (4 FPS / 250ms).</a:t>
            </a:r>
          </a:p>
          <a:p>
            <a:pPr>
              <a:defRPr sz="1500">
                <a:solidFill>
                  <a:srgbClr val="475569"/>
                </a:solidFill>
              </a:defRPr>
            </a:pPr>
            <a:r>
              <a:rPr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Calculates joint angles and spatial displacement via vector dot product mathematics.</a:t>
            </a:r>
          </a:p>
          <a:p>
            <a:pPr>
              <a:defRPr sz="1500">
                <a:solidFill>
                  <a:srgbClr val="475569"/>
                </a:solidFill>
              </a:defRPr>
            </a:pPr>
            <a:r>
              <a:rPr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Combines real-time movement tracking with multi-athlete management and digital records.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6733520" y="5943600"/>
            <a:ext cx="15087600" cy="345643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6733520" y="5943600"/>
            <a:ext cx="15087600" cy="82296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2000" b="1">
                <a:solidFill>
                  <a:srgbClr val="0A192F"/>
                </a:solidFill>
              </a:defRPr>
            </a:pPr>
            <a:r>
              <a:rPr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02 — PROBLEM STATEMENT &amp; MOTIVATION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007840" y="6858000"/>
            <a:ext cx="14538960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0F172A"/>
                </a:solidFill>
              </a:defRPr>
            </a:pPr>
            <a:r>
              <a:rPr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physical fitness testing in sporting academies, schools, and armed forces relies on manual stopwatches, visual counting, and paper scorecards.</a:t>
            </a:r>
          </a:p>
          <a:p>
            <a:pPr>
              <a:defRPr sz="1500">
                <a:solidFill>
                  <a:srgbClr val="475569"/>
                </a:solidFill>
              </a:defRPr>
            </a:pPr>
            <a:r>
              <a:rPr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Subjective Observation Bias: Human fatigue leads to missed repetitions and inconsistent judging.</a:t>
            </a:r>
          </a:p>
          <a:p>
            <a:pPr>
              <a:defRPr sz="1500">
                <a:solidFill>
                  <a:srgbClr val="475569"/>
                </a:solidFill>
              </a:defRPr>
            </a:pPr>
            <a:r>
              <a:rPr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No Angle Verification: Incomplete movement (e.g. shallow sit-ups) is falsely counted as valid reps.</a:t>
            </a:r>
          </a:p>
          <a:p>
            <a:pPr>
              <a:defRPr sz="1500">
                <a:solidFill>
                  <a:srgbClr val="475569"/>
                </a:solidFill>
              </a:defRPr>
            </a:pPr>
            <a:r>
              <a:rPr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Data Fragmentation: Paper-based records make longitudinal tracking and cohort comparison slow.</a:t>
            </a:r>
          </a:p>
          <a:p>
            <a:pPr>
              <a:defRPr sz="1500">
                <a:solidFill>
                  <a:srgbClr val="475569"/>
                </a:solidFill>
              </a:defRPr>
            </a:pPr>
            <a:r>
              <a:rPr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High Equipment Cost: High-end optical motion capture labs are unaffordable for grassroots </a:t>
            </a:r>
            <a:r>
              <a:rPr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centres</a:t>
            </a:r>
            <a:r>
              <a:rPr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0" y="10424160"/>
            <a:ext cx="30723840" cy="8646113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97280" y="9544268"/>
            <a:ext cx="30723840" cy="91440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 ⭐ END-TO-END SYSTEM WORKFLOW (THE 8-STEP OPERATIONAL PIPELINE)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463040" y="10886742"/>
            <a:ext cx="7132320" cy="329184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0A192F"/>
                </a:solidFill>
              </a:defRPr>
            </a:pPr>
            <a:r>
              <a:rPr sz="2500" dirty="0">
                <a:latin typeface="Bodoni MT" panose="02070603080606020203" pitchFamily="18" charset="0"/>
              </a:rPr>
              <a:t>STEP 01 — TRAINER SIGN IN</a:t>
            </a:r>
            <a:endParaRPr lang="en-US" sz="2500" dirty="0">
              <a:latin typeface="Bodoni MT" panose="02070603080606020203" pitchFamily="18" charset="0"/>
            </a:endParaRPr>
          </a:p>
          <a:p>
            <a:pPr algn="ctr">
              <a:defRPr sz="1700" b="1">
                <a:solidFill>
                  <a:srgbClr val="0A192F"/>
                </a:solidFill>
              </a:defRPr>
            </a:pPr>
            <a:endParaRPr lang="en-US" sz="2500" dirty="0">
              <a:latin typeface="Bodoni MT" panose="02070603080606020203" pitchFamily="18" charset="0"/>
            </a:endParaRPr>
          </a:p>
          <a:p>
            <a:pPr algn="ctr">
              <a:defRPr sz="1700" b="1">
                <a:solidFill>
                  <a:srgbClr val="0A192F"/>
                </a:solidFill>
              </a:defRPr>
            </a:pPr>
            <a:endParaRPr sz="2500" dirty="0">
              <a:latin typeface="Bodoni MT" panose="02070603080606020203" pitchFamily="18" charset="0"/>
            </a:endParaRPr>
          </a:p>
          <a:p>
            <a:pPr algn="l">
              <a:defRPr sz="1400">
                <a:solidFill>
                  <a:srgbClr val="0F172A"/>
                </a:solidFill>
              </a:defRPr>
            </a:pPr>
            <a:r>
              <a:rPr sz="2500" dirty="0">
                <a:latin typeface="Bodoni MT" panose="02070603080606020203" pitchFamily="18" charset="0"/>
              </a:rPr>
              <a:t>Secure login with credentials/OAuth. Enforces strict multi-trainer data isolation (trainer=</a:t>
            </a:r>
            <a:r>
              <a:rPr sz="2500" dirty="0" err="1">
                <a:latin typeface="Bodoni MT" panose="02070603080606020203" pitchFamily="18" charset="0"/>
              </a:rPr>
              <a:t>request.user</a:t>
            </a:r>
            <a:r>
              <a:rPr sz="2500" dirty="0">
                <a:latin typeface="Bodoni MT" panose="02070603080606020203" pitchFamily="18" charset="0"/>
              </a:rPr>
              <a:t>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61120" y="10886739"/>
            <a:ext cx="7132320" cy="329184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0A192F"/>
                </a:solidFill>
              </a:defRPr>
            </a:pPr>
            <a:r>
              <a:rPr sz="2500" dirty="0">
                <a:latin typeface="Bodoni MT" panose="02070603080606020203" pitchFamily="18" charset="0"/>
              </a:rPr>
              <a:t>STEP 02 — ATHLETE SELECTION</a:t>
            </a:r>
            <a:endParaRPr lang="en-US" sz="2500" dirty="0">
              <a:latin typeface="Bodoni MT" panose="02070603080606020203" pitchFamily="18" charset="0"/>
            </a:endParaRPr>
          </a:p>
          <a:p>
            <a:pPr algn="ctr">
              <a:defRPr sz="1700" b="1">
                <a:solidFill>
                  <a:srgbClr val="0A192F"/>
                </a:solidFill>
              </a:defRPr>
            </a:pPr>
            <a:endParaRPr lang="en-IN" sz="2500" dirty="0">
              <a:latin typeface="Bodoni MT" panose="02070603080606020203" pitchFamily="18" charset="0"/>
            </a:endParaRPr>
          </a:p>
          <a:p>
            <a:pPr algn="ctr">
              <a:defRPr sz="1700" b="1">
                <a:solidFill>
                  <a:srgbClr val="0A192F"/>
                </a:solidFill>
              </a:defRPr>
            </a:pPr>
            <a:endParaRPr sz="2500" dirty="0">
              <a:latin typeface="Bodoni MT" panose="02070603080606020203" pitchFamily="18" charset="0"/>
            </a:endParaRPr>
          </a:p>
          <a:p>
            <a:pPr algn="l">
              <a:defRPr sz="1400">
                <a:solidFill>
                  <a:srgbClr val="0F172A"/>
                </a:solidFill>
              </a:defRPr>
            </a:pPr>
            <a:r>
              <a:rPr sz="2500" dirty="0">
                <a:latin typeface="Bodoni MT" panose="02070603080606020203" pitchFamily="18" charset="0"/>
              </a:rPr>
              <a:t>Trainer registers a new athlete or selects an existing profile with sport, age, height, and weight baseline.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6459200" y="10886742"/>
            <a:ext cx="7132320" cy="329184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0A192F"/>
                </a:solidFill>
              </a:defRPr>
            </a:pPr>
            <a:r>
              <a:rPr sz="2500" dirty="0">
                <a:latin typeface="Bodoni MT" panose="02070603080606020203" pitchFamily="18" charset="0"/>
              </a:rPr>
              <a:t>STEP 03 — EXERCISE SELECTION</a:t>
            </a:r>
            <a:endParaRPr lang="en-US" sz="2500" dirty="0">
              <a:latin typeface="Bodoni MT" panose="02070603080606020203" pitchFamily="18" charset="0"/>
            </a:endParaRPr>
          </a:p>
          <a:p>
            <a:pPr algn="ctr">
              <a:defRPr sz="1700" b="1">
                <a:solidFill>
                  <a:srgbClr val="0A192F"/>
                </a:solidFill>
              </a:defRPr>
            </a:pPr>
            <a:endParaRPr lang="en-IN" sz="2500" dirty="0">
              <a:latin typeface="Bodoni MT" panose="02070603080606020203" pitchFamily="18" charset="0"/>
            </a:endParaRPr>
          </a:p>
          <a:p>
            <a:pPr algn="ctr">
              <a:defRPr sz="1700" b="1">
                <a:solidFill>
                  <a:srgbClr val="0A192F"/>
                </a:solidFill>
              </a:defRPr>
            </a:pPr>
            <a:endParaRPr sz="2500" dirty="0">
              <a:latin typeface="Bodoni MT" panose="02070603080606020203" pitchFamily="18" charset="0"/>
            </a:endParaRPr>
          </a:p>
          <a:p>
            <a:pPr algn="l">
              <a:defRPr sz="1400">
                <a:solidFill>
                  <a:srgbClr val="0F172A"/>
                </a:solidFill>
              </a:defRPr>
            </a:pPr>
            <a:r>
              <a:rPr sz="2500" dirty="0">
                <a:latin typeface="Bodoni MT" panose="02070603080606020203" pitchFamily="18" charset="0"/>
              </a:rPr>
              <a:t>Trainer chooses one of the 8 physical fitness tests (Vertical Jump, Broad Jump, Sit-ups, Sprint, etc.).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3957280" y="10832953"/>
            <a:ext cx="7132320" cy="329184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0A192F"/>
                </a:solidFill>
              </a:defRPr>
            </a:pPr>
            <a:r>
              <a:rPr sz="2500" dirty="0">
                <a:latin typeface="Bodoni MT" panose="02070603080606020203" pitchFamily="18" charset="0"/>
              </a:rPr>
              <a:t>STEP 04 — MOVEMENT CAPTURE</a:t>
            </a:r>
            <a:endParaRPr lang="en-US" sz="2500" dirty="0">
              <a:latin typeface="Bodoni MT" panose="02070603080606020203" pitchFamily="18" charset="0"/>
            </a:endParaRPr>
          </a:p>
          <a:p>
            <a:pPr algn="ctr">
              <a:defRPr sz="1700" b="1">
                <a:solidFill>
                  <a:srgbClr val="0A192F"/>
                </a:solidFill>
              </a:defRPr>
            </a:pPr>
            <a:endParaRPr lang="en-US" sz="2500" dirty="0">
              <a:latin typeface="Bodoni MT" panose="02070603080606020203" pitchFamily="18" charset="0"/>
            </a:endParaRPr>
          </a:p>
          <a:p>
            <a:pPr algn="ctr">
              <a:defRPr sz="1700" b="1">
                <a:solidFill>
                  <a:srgbClr val="0A192F"/>
                </a:solidFill>
              </a:defRPr>
            </a:pPr>
            <a:endParaRPr sz="2500" dirty="0">
              <a:latin typeface="Bodoni MT" panose="02070603080606020203" pitchFamily="18" charset="0"/>
            </a:endParaRPr>
          </a:p>
          <a:p>
            <a:pPr algn="l">
              <a:defRPr sz="1400">
                <a:solidFill>
                  <a:srgbClr val="0F172A"/>
                </a:solidFill>
              </a:defRPr>
            </a:pPr>
            <a:r>
              <a:rPr sz="2500" dirty="0">
                <a:latin typeface="Bodoni MT" panose="02070603080606020203" pitchFamily="18" charset="0"/>
              </a:rPr>
              <a:t>Standard webcam captures video frames at 4 FPS (250ms interval) balancing responsiveness with CPU load.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463040" y="15270480"/>
            <a:ext cx="7132320" cy="3291840"/>
          </a:xfrm>
          <a:prstGeom prst="roundRect">
            <a:avLst/>
          </a:prstGeom>
          <a:solidFill>
            <a:srgbClr val="ECFDF5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0A192F"/>
                </a:solidFill>
              </a:defRPr>
            </a:pPr>
            <a:r>
              <a:rPr lang="en-US" sz="2500" dirty="0">
                <a:latin typeface="Bodoni MT" panose="02070603080606020203" pitchFamily="18" charset="0"/>
              </a:rPr>
              <a:t>S</a:t>
            </a:r>
            <a:r>
              <a:rPr sz="2500" dirty="0">
                <a:latin typeface="Bodoni MT" panose="02070603080606020203" pitchFamily="18" charset="0"/>
              </a:rPr>
              <a:t>TEP 05 — POSE DETECTION</a:t>
            </a:r>
            <a:endParaRPr lang="en-US" sz="2500" dirty="0">
              <a:latin typeface="Bodoni MT" panose="02070603080606020203" pitchFamily="18" charset="0"/>
            </a:endParaRPr>
          </a:p>
          <a:p>
            <a:pPr algn="ctr">
              <a:defRPr sz="1700" b="1">
                <a:solidFill>
                  <a:srgbClr val="0A192F"/>
                </a:solidFill>
              </a:defRPr>
            </a:pPr>
            <a:endParaRPr lang="en-US" sz="2500" dirty="0">
              <a:latin typeface="Bodoni MT" panose="02070603080606020203" pitchFamily="18" charset="0"/>
            </a:endParaRPr>
          </a:p>
          <a:p>
            <a:pPr algn="ctr">
              <a:defRPr sz="1700" b="1">
                <a:solidFill>
                  <a:srgbClr val="0A192F"/>
                </a:solidFill>
              </a:defRPr>
            </a:pPr>
            <a:endParaRPr sz="2500" dirty="0">
              <a:latin typeface="Bodoni MT" panose="02070603080606020203" pitchFamily="18" charset="0"/>
            </a:endParaRPr>
          </a:p>
          <a:p>
            <a:pPr algn="l">
              <a:defRPr sz="1400">
                <a:solidFill>
                  <a:srgbClr val="0F172A"/>
                </a:solidFill>
              </a:defRPr>
            </a:pPr>
            <a:r>
              <a:rPr sz="2500" dirty="0">
                <a:latin typeface="Bodoni MT" panose="02070603080606020203" pitchFamily="18" charset="0"/>
              </a:rPr>
              <a:t>YOLO26-Pose extracts 17 body </a:t>
            </a:r>
            <a:r>
              <a:rPr sz="2500" dirty="0" err="1">
                <a:latin typeface="Bodoni MT" panose="02070603080606020203" pitchFamily="18" charset="0"/>
              </a:rPr>
              <a:t>keypoints</a:t>
            </a:r>
            <a:r>
              <a:rPr sz="2500" dirty="0">
                <a:latin typeface="Bodoni MT" panose="02070603080606020203" pitchFamily="18" charset="0"/>
              </a:rPr>
              <a:t> (shoulders, elbows, wrists, hips, knees, ankles) with confidence &gt; 0.5.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61120" y="15270480"/>
            <a:ext cx="7132320" cy="3291840"/>
          </a:xfrm>
          <a:prstGeom prst="roundRect">
            <a:avLst/>
          </a:prstGeom>
          <a:solidFill>
            <a:srgbClr val="ECFDF5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0A192F"/>
                </a:solidFill>
              </a:defRPr>
            </a:pPr>
            <a:r>
              <a:rPr sz="2500" dirty="0">
                <a:latin typeface="Bodoni MT" panose="02070603080606020203" pitchFamily="18" charset="0"/>
              </a:rPr>
              <a:t>STEP 06 — MOVEMENT ANALYSIS</a:t>
            </a:r>
            <a:endParaRPr lang="en-US" sz="2500" dirty="0">
              <a:latin typeface="Bodoni MT" panose="02070603080606020203" pitchFamily="18" charset="0"/>
            </a:endParaRPr>
          </a:p>
          <a:p>
            <a:pPr algn="ctr">
              <a:defRPr sz="1700" b="1">
                <a:solidFill>
                  <a:srgbClr val="0A192F"/>
                </a:solidFill>
              </a:defRPr>
            </a:pPr>
            <a:endParaRPr lang="en-IN" sz="2500" dirty="0">
              <a:latin typeface="Bodoni MT" panose="02070603080606020203" pitchFamily="18" charset="0"/>
            </a:endParaRPr>
          </a:p>
          <a:p>
            <a:pPr algn="ctr">
              <a:defRPr sz="1700" b="1">
                <a:solidFill>
                  <a:srgbClr val="0A192F"/>
                </a:solidFill>
              </a:defRPr>
            </a:pPr>
            <a:endParaRPr sz="2500" dirty="0">
              <a:latin typeface="Bodoni MT" panose="02070603080606020203" pitchFamily="18" charset="0"/>
            </a:endParaRPr>
          </a:p>
          <a:p>
            <a:pPr algn="l">
              <a:defRPr sz="1400">
                <a:solidFill>
                  <a:srgbClr val="0F172A"/>
                </a:solidFill>
              </a:defRPr>
            </a:pPr>
            <a:r>
              <a:rPr sz="2500" dirty="0">
                <a:latin typeface="Bodoni MT" panose="02070603080606020203" pitchFamily="18" charset="0"/>
              </a:rPr>
              <a:t>Vector dot product computes joint angles. Dual-threshold state machine verifies reps and displacements.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6459200" y="15270480"/>
            <a:ext cx="7132320" cy="3291840"/>
          </a:xfrm>
          <a:prstGeom prst="roundRect">
            <a:avLst/>
          </a:prstGeom>
          <a:solidFill>
            <a:srgbClr val="FFF7ED"/>
          </a:solidFill>
          <a:ln w="254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0A192F"/>
                </a:solidFill>
              </a:defRPr>
            </a:pPr>
            <a:r>
              <a:rPr sz="2500" dirty="0">
                <a:latin typeface="Bodoni MT" panose="02070603080606020203" pitchFamily="18" charset="0"/>
              </a:rPr>
              <a:t>STEP 07 — REAL-TIME RESULTS</a:t>
            </a:r>
            <a:endParaRPr lang="en-US" sz="2500" dirty="0">
              <a:latin typeface="Bodoni MT" panose="02070603080606020203" pitchFamily="18" charset="0"/>
            </a:endParaRPr>
          </a:p>
          <a:p>
            <a:pPr algn="ctr">
              <a:defRPr sz="1700" b="1">
                <a:solidFill>
                  <a:srgbClr val="0A192F"/>
                </a:solidFill>
              </a:defRPr>
            </a:pPr>
            <a:endParaRPr lang="en-IN" sz="2500" dirty="0">
              <a:latin typeface="Bodoni MT" panose="02070603080606020203" pitchFamily="18" charset="0"/>
            </a:endParaRPr>
          </a:p>
          <a:p>
            <a:pPr algn="ctr">
              <a:defRPr sz="1700" b="1">
                <a:solidFill>
                  <a:srgbClr val="0A192F"/>
                </a:solidFill>
              </a:defRPr>
            </a:pPr>
            <a:endParaRPr sz="2500" dirty="0">
              <a:latin typeface="Bodoni MT" panose="02070603080606020203" pitchFamily="18" charset="0"/>
            </a:endParaRPr>
          </a:p>
          <a:p>
            <a:pPr algn="l">
              <a:defRPr sz="1400">
                <a:solidFill>
                  <a:srgbClr val="0F172A"/>
                </a:solidFill>
              </a:defRPr>
            </a:pPr>
            <a:r>
              <a:rPr sz="2500" dirty="0">
                <a:latin typeface="Bodoni MT" panose="02070603080606020203" pitchFamily="18" charset="0"/>
              </a:rPr>
              <a:t>Canvas displays skeleton overlay, live joint angles, completed repetitions, peak metrics &amp; score (0-100).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3957280" y="15270480"/>
            <a:ext cx="7132320" cy="3291840"/>
          </a:xfrm>
          <a:prstGeom prst="roundRect">
            <a:avLst/>
          </a:prstGeom>
          <a:solidFill>
            <a:srgbClr val="FFF7ED"/>
          </a:solidFill>
          <a:ln w="254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0A192F"/>
                </a:solidFill>
              </a:defRPr>
            </a:pPr>
            <a:r>
              <a:rPr sz="2500" dirty="0">
                <a:latin typeface="Bodoni MT" panose="02070603080606020203" pitchFamily="18" charset="0"/>
              </a:rPr>
              <a:t>STEP 08 — SAVE &amp; REVIEW</a:t>
            </a:r>
            <a:endParaRPr lang="en-US" sz="2500" dirty="0">
              <a:latin typeface="Bodoni MT" panose="02070603080606020203" pitchFamily="18" charset="0"/>
            </a:endParaRPr>
          </a:p>
          <a:p>
            <a:pPr algn="ctr">
              <a:defRPr sz="1700" b="1">
                <a:solidFill>
                  <a:srgbClr val="0A192F"/>
                </a:solidFill>
              </a:defRPr>
            </a:pPr>
            <a:endParaRPr lang="en-IN" sz="2500" dirty="0">
              <a:latin typeface="Bodoni MT" panose="02070603080606020203" pitchFamily="18" charset="0"/>
            </a:endParaRPr>
          </a:p>
          <a:p>
            <a:pPr algn="ctr">
              <a:defRPr sz="1700" b="1">
                <a:solidFill>
                  <a:srgbClr val="0A192F"/>
                </a:solidFill>
              </a:defRPr>
            </a:pPr>
            <a:endParaRPr sz="2500" dirty="0">
              <a:latin typeface="Bodoni MT" panose="02070603080606020203" pitchFamily="18" charset="0"/>
            </a:endParaRPr>
          </a:p>
          <a:p>
            <a:pPr algn="l">
              <a:defRPr sz="1400">
                <a:solidFill>
                  <a:srgbClr val="0F172A"/>
                </a:solidFill>
              </a:defRPr>
            </a:pPr>
            <a:r>
              <a:rPr sz="2500" dirty="0">
                <a:latin typeface="Bodoni MT" panose="02070603080606020203" pitchFamily="18" charset="0"/>
              </a:rPr>
              <a:t>Completed assessment persisted to SQLite/PostgreSQL. Instant updates to athlete history, charts &amp; team analytics.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97280" y="20025360"/>
            <a:ext cx="16459200" cy="7589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1097280" y="20025360"/>
            <a:ext cx="16459200" cy="822960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l">
              <a:defRPr sz="2000" b="1">
                <a:solidFill>
                  <a:srgbClr val="0A192F"/>
                </a:solidFill>
              </a:defRPr>
            </a:pPr>
            <a:r>
              <a:rPr sz="2000">
                <a:latin typeface="Times New Roman" panose="02020603050405020304" pitchFamily="18" charset="0"/>
                <a:cs typeface="Times New Roman" panose="02020603050405020304" pitchFamily="18" charset="0"/>
              </a:rPr>
              <a:t>  03 — EIGHT FITNESS EXERCISE MODULES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463040" y="21031200"/>
            <a:ext cx="7589520" cy="13258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0A192F"/>
                </a:solidFill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Vertical Jump</a:t>
            </a:r>
          </a:p>
          <a:p>
            <a:pPr algn="ctr">
              <a:defRPr sz="1200">
                <a:solidFill>
                  <a:srgbClr val="475569"/>
                </a:solidFill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Ankle Y-displacement from standing baseline (cm)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326880" y="21031200"/>
            <a:ext cx="7589520" cy="13258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0A192F"/>
                </a:solidFill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Broad Jump</a:t>
            </a:r>
          </a:p>
          <a:p>
            <a:pPr algn="ctr">
              <a:defRPr sz="1200">
                <a:solidFill>
                  <a:srgbClr val="475569"/>
                </a:solidFill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Takeoff-to-landing ankle X-displacement (cm)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463040" y="22539960"/>
            <a:ext cx="7589520" cy="13258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0A192F"/>
                </a:solidFill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Sit-ups</a:t>
            </a:r>
          </a:p>
          <a:p>
            <a:pPr algn="ctr">
              <a:defRPr sz="1200">
                <a:solidFill>
                  <a:srgbClr val="475569"/>
                </a:solidFill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Hip angle (Shoulder-Hip-Knee); full UP/DOWN cycles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326880" y="22539960"/>
            <a:ext cx="7589520" cy="13258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0A192F"/>
                </a:solidFill>
              </a:defRPr>
            </a:pPr>
            <a:r>
              <a:rPr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Sit &amp; Reach</a:t>
            </a:r>
          </a:p>
          <a:p>
            <a:pPr algn="ctr">
              <a:defRPr sz="1200">
                <a:solidFill>
                  <a:srgbClr val="475569"/>
                </a:solidFill>
              </a:defRPr>
            </a:pPr>
            <a:r>
              <a:rPr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Maximum forward wrist reach past toe baseline (cm)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463040" y="24048720"/>
            <a:ext cx="7589520" cy="13258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0A192F"/>
                </a:solidFill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Sprint Test</a:t>
            </a:r>
          </a:p>
          <a:p>
            <a:pPr algn="ctr">
              <a:defRPr sz="1200">
                <a:solidFill>
                  <a:srgbClr val="475569"/>
                </a:solidFill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 crossing detection &amp; precision digital stopwatch (sec)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326880" y="24048720"/>
            <a:ext cx="7589520" cy="13258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0A192F"/>
                </a:solidFill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Medicine Ball Throw</a:t>
            </a:r>
          </a:p>
          <a:p>
            <a:pPr algn="ctr">
              <a:defRPr sz="1200">
                <a:solidFill>
                  <a:srgbClr val="475569"/>
                </a:solidFill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Upper-body power via wrist release proxy tracking (cm)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463040" y="25557480"/>
            <a:ext cx="7589520" cy="13258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0A192F"/>
                </a:solidFill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Shuttle Run</a:t>
            </a:r>
          </a:p>
          <a:p>
            <a:pPr algn="ctr">
              <a:defRPr sz="1200">
                <a:solidFill>
                  <a:srgbClr val="475569"/>
                </a:solidFill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Directional agility boundary crossings via hip position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326880" y="25557480"/>
            <a:ext cx="7589520" cy="13258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0A192F"/>
                </a:solidFill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Endurance Run</a:t>
            </a:r>
          </a:p>
          <a:p>
            <a:pPr algn="ctr">
              <a:defRPr sz="1200">
                <a:solidFill>
                  <a:srgbClr val="475569"/>
                </a:solidFill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Stamina cadence monitoring through completed laps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8105120" y="20025360"/>
            <a:ext cx="13716000" cy="7589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18105120" y="20025360"/>
            <a:ext cx="13716000" cy="822960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l">
              <a:defRPr sz="2000" b="1">
                <a:solidFill>
                  <a:srgbClr val="0A192F"/>
                </a:solidFill>
              </a:defRPr>
            </a:pPr>
            <a:r>
              <a:rPr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04 — BIOMECHANICAL MOVEMENT ANALYSIS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8470880" y="20939760"/>
            <a:ext cx="12984480" cy="5478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0B981"/>
                </a:solidFill>
              </a:defRPr>
            </a:pPr>
            <a:r>
              <a:rPr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AI UNDERSTANDS BODY MOVEMENT: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700" b="1">
                <a:solidFill>
                  <a:srgbClr val="10B981"/>
                </a:solidFill>
              </a:defRPr>
            </a:pPr>
            <a:endParaRPr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400">
                <a:solidFill>
                  <a:srgbClr val="0F172A"/>
                </a:solidFill>
              </a:defRPr>
            </a:pPr>
            <a:r>
              <a:rPr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Keypoint</a:t>
            </a:r>
            <a:r>
              <a:rPr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Detection: Extracts 17 COCO landmarks (nose, eyes, ears, shoulders, elbows, wrists, hips, knees, ankles).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400">
                <a:solidFill>
                  <a:srgbClr val="0F172A"/>
                </a:solidFill>
              </a:defRPr>
            </a:pPr>
            <a:endParaRPr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400" b="1">
                <a:solidFill>
                  <a:srgbClr val="0A192F"/>
                </a:solidFill>
              </a:defRPr>
            </a:pPr>
            <a:r>
              <a:rPr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Vector Joint Angle Formula:</a:t>
            </a:r>
            <a:br>
              <a:rPr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θ = arccos( (BA · BC) / (|BA| × |BC|) )</a:t>
            </a:r>
            <a:br>
              <a:rPr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Calculates angle at joint B using dot product between vectors BA and BC.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400" b="1">
                <a:solidFill>
                  <a:srgbClr val="0A192F"/>
                </a:solidFill>
              </a:defRPr>
            </a:pPr>
            <a:endParaRPr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400">
                <a:solidFill>
                  <a:srgbClr val="0F172A"/>
                </a:solidFill>
              </a:defRPr>
            </a:pPr>
            <a:r>
              <a:rPr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State Machine Hysteresis:</a:t>
            </a:r>
            <a:br>
              <a:rPr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Prevents false repetition counts near the threshold boundary.</a:t>
            </a:r>
            <a:br>
              <a:rPr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• Sit-up Start: Torso angle &gt; 140°</a:t>
            </a:r>
            <a:br>
              <a:rPr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• Up Stage: Torso angle &lt; 100°</a:t>
            </a:r>
            <a:br>
              <a:rPr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• Count Rep: Return to &gt; 140°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97280" y="27889200"/>
            <a:ext cx="30723840" cy="8961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1097280" y="27889200"/>
            <a:ext cx="30723840" cy="8229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2000" b="1">
                <a:solidFill>
                  <a:srgbClr val="0A192F"/>
                </a:solidFill>
              </a:defRPr>
            </a:pPr>
            <a:r>
              <a:rPr sz="2500">
                <a:latin typeface="Times New Roman" panose="02020603050405020304" pitchFamily="18" charset="0"/>
                <a:cs typeface="Times New Roman" panose="02020603050405020304" pitchFamily="18" charset="0"/>
              </a:rPr>
              <a:t>  05 — PRODUCTION APPLICATION INTERFACES &amp; ASSESSMENT RESULTS</a:t>
            </a:r>
          </a:p>
        </p:txBody>
      </p:sp>
      <p:pic>
        <p:nvPicPr>
          <p:cNvPr id="41" name="Picture 40" descr="01-trainer-a-dashboar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28895040"/>
            <a:ext cx="9692640" cy="585216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1463040" y="34838640"/>
            <a:ext cx="9692640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A192F"/>
                </a:solidFill>
              </a:defRPr>
            </a:pPr>
            <a:r>
              <a:rPr sz="2500">
                <a:latin typeface="Times New Roman" panose="02020603050405020304" pitchFamily="18" charset="0"/>
                <a:cs typeface="Times New Roman" panose="02020603050405020304" pitchFamily="18" charset="0"/>
              </a:rPr>
              <a:t>FIGURE 1: TRAINER DASHBOARD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rPr sz="2500">
                <a:latin typeface="Times New Roman" panose="02020603050405020304" pitchFamily="18" charset="0"/>
                <a:cs typeface="Times New Roman" panose="02020603050405020304" pitchFamily="18" charset="0"/>
              </a:rPr>
              <a:t>Multi-athlete roster with search, sport filtering, completed exercise count, and team assessment summaries.</a:t>
            </a:r>
          </a:p>
        </p:txBody>
      </p:sp>
      <p:pic>
        <p:nvPicPr>
          <p:cNvPr id="43" name="Picture 42" descr="09a-reports-trainer-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12880" y="28895040"/>
            <a:ext cx="9692640" cy="5852160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11612880" y="34838640"/>
            <a:ext cx="9692640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A192F"/>
                </a:solidFill>
              </a:defRPr>
            </a:pPr>
            <a:r>
              <a:rPr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2: TEAM PERFORMANCE REPORTS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rPr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average scores, top 5 athletes, exercise-wise score distribution bars, and weakest fitness module identification.</a:t>
            </a:r>
          </a:p>
        </p:txBody>
      </p:sp>
      <p:pic>
        <p:nvPicPr>
          <p:cNvPr id="45" name="Picture 44" descr="Thumbnai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62720" y="28895040"/>
            <a:ext cx="9692640" cy="585216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21762720" y="34838640"/>
            <a:ext cx="9692640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A192F"/>
                </a:solidFill>
              </a:defRPr>
            </a:pPr>
            <a:r>
              <a:rPr sz="2500">
                <a:latin typeface="Times New Roman" panose="02020603050405020304" pitchFamily="18" charset="0"/>
                <a:cs typeface="Times New Roman" panose="02020603050405020304" pitchFamily="18" charset="0"/>
              </a:rPr>
              <a:t>FIGURE 3: LIVE POSE ESTIMATION &amp; RESULTS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rPr sz="2500">
                <a:latin typeface="Times New Roman" panose="02020603050405020304" pitchFamily="18" charset="0"/>
                <a:cs typeface="Times New Roman" panose="02020603050405020304" pitchFamily="18" charset="0"/>
              </a:rPr>
              <a:t>17-keypoint skeleton overlay with real-time joint angles, dynamic repetition tracking, and score persistence.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097280" y="37124640"/>
            <a:ext cx="9875520" cy="5303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1097280" y="37124640"/>
            <a:ext cx="9875520" cy="8229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2000" b="1">
                <a:solidFill>
                  <a:srgbClr val="0A192F"/>
                </a:solidFill>
              </a:defRPr>
            </a:pPr>
            <a:r>
              <a:rPr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06 — REAL-WORLD APPLICATIONS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371600" y="38039040"/>
            <a:ext cx="932688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F172A"/>
                </a:solidFill>
              </a:defRPr>
            </a:pPr>
            <a:r>
              <a:rPr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 Sports Academies: Objective athletic grading and talent identification.</a:t>
            </a:r>
          </a:p>
          <a:p>
            <a:pPr>
              <a:defRPr sz="1400">
                <a:solidFill>
                  <a:srgbClr val="0F172A"/>
                </a:solidFill>
              </a:defRPr>
            </a:pPr>
            <a:r>
              <a:rPr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 Schools &amp; Colleges: Standardized annual physical education fitness reports.</a:t>
            </a:r>
          </a:p>
          <a:p>
            <a:pPr>
              <a:defRPr sz="1400">
                <a:solidFill>
                  <a:srgbClr val="0F172A"/>
                </a:solidFill>
              </a:defRPr>
            </a:pPr>
            <a:r>
              <a:rPr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 Armed Forces / Police: Fatigue-free, automated physical eligibility tests.</a:t>
            </a:r>
          </a:p>
          <a:p>
            <a:pPr>
              <a:defRPr sz="1400">
                <a:solidFill>
                  <a:srgbClr val="0F172A"/>
                </a:solidFill>
              </a:defRPr>
            </a:pPr>
            <a:r>
              <a:rPr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 Physiotherapy Clinics: Rehabilitation recovery tracking &amp; range of motion.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1521440" y="37124640"/>
            <a:ext cx="9875520" cy="5303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11521440" y="37124640"/>
            <a:ext cx="9875520" cy="8229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2000" b="1">
                <a:solidFill>
                  <a:srgbClr val="0A192F"/>
                </a:solidFill>
              </a:defRPr>
            </a:pPr>
            <a:r>
              <a:rPr sz="2500">
                <a:latin typeface="Times New Roman" panose="02020603050405020304" pitchFamily="18" charset="0"/>
                <a:cs typeface="Times New Roman" panose="02020603050405020304" pitchFamily="18" charset="0"/>
              </a:rPr>
              <a:t>  07 — FUTURE SCOPE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795760" y="38039040"/>
            <a:ext cx="932688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F172A"/>
                </a:solidFill>
              </a:defRPr>
            </a:pPr>
            <a:r>
              <a:rPr sz="2500">
                <a:latin typeface="Times New Roman" panose="02020603050405020304" pitchFamily="18" charset="0"/>
                <a:cs typeface="Times New Roman" panose="02020603050405020304" pitchFamily="18" charset="0"/>
              </a:rPr>
              <a:t>✦  Edge Device Acceleration: On-device mobile inference using WebAssembly/ONNX.</a:t>
            </a:r>
          </a:p>
          <a:p>
            <a:pPr>
              <a:defRPr sz="1400">
                <a:solidFill>
                  <a:srgbClr val="0F172A"/>
                </a:solidFill>
              </a:defRPr>
            </a:pPr>
            <a:r>
              <a:rPr sz="2500">
                <a:latin typeface="Times New Roman" panose="02020603050405020304" pitchFamily="18" charset="0"/>
                <a:cs typeface="Times New Roman" panose="02020603050405020304" pitchFamily="18" charset="0"/>
              </a:rPr>
              <a:t>✦  Real-Time Voice Coaching: Live audio cues (e.g. 'Keep your back straight').</a:t>
            </a:r>
          </a:p>
          <a:p>
            <a:pPr>
              <a:defRPr sz="1400">
                <a:solidFill>
                  <a:srgbClr val="0F172A"/>
                </a:solidFill>
              </a:defRPr>
            </a:pPr>
            <a:r>
              <a:rPr sz="2500">
                <a:latin typeface="Times New Roman" panose="02020603050405020304" pitchFamily="18" charset="0"/>
                <a:cs typeface="Times New Roman" panose="02020603050405020304" pitchFamily="18" charset="0"/>
              </a:rPr>
              <a:t>✦  Multi-Camera Triangulation: Dual-angle 3D skeletal tracking for rotational sports.</a:t>
            </a:r>
          </a:p>
          <a:p>
            <a:pPr>
              <a:defRPr sz="1400">
                <a:solidFill>
                  <a:srgbClr val="0F172A"/>
                </a:solidFill>
              </a:defRPr>
            </a:pPr>
            <a:r>
              <a:rPr sz="2500">
                <a:latin typeface="Times New Roman" panose="02020603050405020304" pitchFamily="18" charset="0"/>
                <a:cs typeface="Times New Roman" panose="02020603050405020304" pitchFamily="18" charset="0"/>
              </a:rPr>
              <a:t>✦  National Database Integration: Export compliant with SAI / Khelo India standards.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21945600" y="37124640"/>
            <a:ext cx="9875520" cy="5303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ounded Rectangle 53"/>
          <p:cNvSpPr/>
          <p:nvPr/>
        </p:nvSpPr>
        <p:spPr>
          <a:xfrm>
            <a:off x="21945600" y="37124640"/>
            <a:ext cx="9875520" cy="8229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2000" b="1">
                <a:solidFill>
                  <a:srgbClr val="0A192F"/>
                </a:solidFill>
              </a:defRPr>
            </a:pPr>
            <a:r>
              <a:rPr sz="2500">
                <a:latin typeface="Times New Roman" panose="02020603050405020304" pitchFamily="18" charset="0"/>
                <a:cs typeface="Times New Roman" panose="02020603050405020304" pitchFamily="18" charset="0"/>
              </a:rPr>
              <a:t>  08 — CONCLUSION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2219920" y="38039040"/>
            <a:ext cx="9326880" cy="27853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A192F"/>
                </a:solidFill>
              </a:defRPr>
            </a:pPr>
            <a:r>
              <a:rPr sz="2500">
                <a:latin typeface="Times New Roman" panose="02020603050405020304" pitchFamily="18" charset="0"/>
                <a:cs typeface="Times New Roman" panose="02020603050405020304" pitchFamily="18" charset="0"/>
              </a:rPr>
              <a:t>The AI-Powered Fitness Assessment Platform bridges sports science and artificial intelligence.</a:t>
            </a:r>
          </a:p>
          <a:p>
            <a:pPr>
              <a:defRPr sz="1400">
                <a:solidFill>
                  <a:srgbClr val="0F172A"/>
                </a:solidFill>
              </a:defRPr>
            </a:pPr>
            <a:r>
              <a:rPr sz="2500">
                <a:latin typeface="Times New Roman" panose="02020603050405020304" pitchFamily="18" charset="0"/>
                <a:cs typeface="Times New Roman" panose="02020603050405020304" pitchFamily="18" charset="0"/>
              </a:rPr>
              <a:t>By replacing manual counting with YOLO-based 17-keypoint pose estimation, joint-angle mathematics, and Celery asynchronous queuing, the platform eliminates human error and fatigue. The system delivers an objective, accessible, and production-ready solution for coaches and athletes.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0" y="42793920"/>
            <a:ext cx="32918400" cy="109728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rPr lang="en-US" sz="3000" dirty="0">
                <a:latin typeface="Algerian" panose="04020705040A02060702" pitchFamily="82" charset="0"/>
              </a:rPr>
              <a:t>AI POWERED FITNESS ASSESSMENT PLATFORM – FITTRACK</a:t>
            </a:r>
            <a:endParaRPr sz="3000" dirty="0">
              <a:latin typeface="Algerian" panose="04020705040A02060702" pitchFamily="82" charset="0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0" y="42793920"/>
            <a:ext cx="3291840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9" name="Picture 58">
            <a:extLst>
              <a:ext uri="{FF2B5EF4-FFF2-40B4-BE49-F238E27FC236}">
                <a16:creationId xmlns:a16="http://schemas.microsoft.com/office/drawing/2014/main" id="{FEB19A8C-CE3F-627A-1194-B1457BD07D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59636" y="-13252"/>
            <a:ext cx="32978035" cy="256939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921</Words>
  <Application>Microsoft Office PowerPoint</Application>
  <PresentationFormat>Custom</PresentationFormat>
  <Paragraphs>94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Algerian</vt:lpstr>
      <vt:lpstr>Arial</vt:lpstr>
      <vt:lpstr>Bodoni MT</vt:lpstr>
      <vt:lpstr>Calibri</vt:lpstr>
      <vt:lpstr>Times New Roman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Aakanksha Vidushi  Pandey</cp:lastModifiedBy>
  <cp:revision>2</cp:revision>
  <cp:lastPrinted>2026-10-23T15:14:41Z</cp:lastPrinted>
  <dcterms:created xsi:type="dcterms:W3CDTF">2013-01-27T09:14:16Z</dcterms:created>
  <dcterms:modified xsi:type="dcterms:W3CDTF">2026-10-23T15:25:50Z</dcterms:modified>
  <cp:category/>
</cp:coreProperties>
</file>