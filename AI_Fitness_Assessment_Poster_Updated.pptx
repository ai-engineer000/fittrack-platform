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5486400"/>
          </a:xfrm>
          <a:prstGeom prst="rect">
            <a:avLst/>
          </a:prstGeom>
          <a:solidFill>
            <a:srgbClr val="0D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329184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365760"/>
            <a:ext cx="1645920" cy="16459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0A192F"/>
                </a:solidFill>
              </a:defRPr>
            </a:pPr>
            <a:r>
              <a:t>MITS</a:t>
            </a:r>
          </a:p>
          <a:p>
            <a:pPr algn="ctr">
              <a:defRPr b="1" sz="1200">
                <a:solidFill>
                  <a:srgbClr val="475569"/>
                </a:solidFill>
              </a:defRPr>
            </a:pPr>
            <a:r>
              <a:t>GWALIOR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0" y="365760"/>
            <a:ext cx="6400800" cy="1645920"/>
          </a:xfrm>
          <a:prstGeom prst="roundRect">
            <a:avLst/>
          </a:prstGeom>
          <a:solidFill>
            <a:srgbClr val="0A19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900">
                <a:solidFill>
                  <a:srgbClr val="10B981"/>
                </a:solidFill>
              </a:defRPr>
            </a:pPr>
            <a:r>
              <a:t>GWALIOR VIGYAN MAHOTSAV 2026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ABV-IIITM Gwalior · Vigyan Bharati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8600"/>
            <a:ext cx="2194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माधव प्रौद्योगिकी एवं विज्ञान संस्थान, ग्वालियर (म.प्र.), भारत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MADHAV INSTITUTE OF TECHNOLOGY &amp; SCIENCE, GWALIOR (M.P.), INDIA</a:t>
            </a:r>
          </a:p>
          <a:p>
            <a:pPr algn="ctr">
              <a:defRPr sz="1400">
                <a:solidFill>
                  <a:srgbClr val="F59E0B"/>
                </a:solidFill>
              </a:defRPr>
            </a:pPr>
            <a:r>
              <a:t>(Deemed to be University · Declared under Distinct Category by Ministry of Education, Govt. of India) · NAAC A++ 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AI-POWERED FITNESS ASSESSMENT PLATFORM</a:t>
            </a:r>
          </a:p>
          <a:p>
            <a:pPr algn="ctr">
              <a:defRPr sz="2400" b="1">
                <a:solidFill>
                  <a:srgbClr val="38BDF8"/>
                </a:solidFill>
              </a:defRPr>
            </a:pPr>
            <a:r>
              <a:t>Real-Time Movement Analysis and Automated Fitness Assessment using Computer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30723840" cy="1188720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Presented by: Aakanksha Vidushi Pandey (BTAI21O1001) &amp; Dhruv Urmaliya (BTAI21O1042)</a:t>
            </a:r>
          </a:p>
          <a:p>
            <a:pPr algn="ctr">
              <a:defRPr sz="1700">
                <a:solidFill>
                  <a:srgbClr val="F59E0B"/>
                </a:solidFill>
              </a:defRPr>
            </a:pPr>
            <a:r>
              <a:t>Under the Guidance of: Dr. Neelam Arya · Centre for Artificial Intelligence, MITS Gwalior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943600"/>
            <a:ext cx="1508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5943600"/>
            <a:ext cx="150876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01 — INTRODUCTION &amp;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858000"/>
            <a:ext cx="1453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The AI-Powered Fitness Assessment Platform is an automated, computer-vision system designed to assist athletic trainers, academies, and coaches in conducting objective physical evaluations.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Replaces subjective human counting with real-time YOLO26-Pose estimation.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Extracts 17 full-body keypoints from a standard webcam video feed (4 FPS / 250ms).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Calculates joint angles and spatial displacement via vector dot product mathematics.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Combines real-time movement tracking with multi-athlete management and digital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20" y="5943600"/>
            <a:ext cx="1508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733520" y="5943600"/>
            <a:ext cx="150876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02 — PROBLEM STATEMENT &amp;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0" y="6858000"/>
            <a:ext cx="1453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Traditional physical fitness testing in sporting academies, schools, and armed forces relies on manual stopwatches, visual counting, and paper scorecards.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Subjective Observation Bias: Human fatigue leads to missed repetitions and inconsistent judging.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No Angle Verification: Incomplete movement (e.g. shallow sit-ups) is falsely counted as valid reps.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Data Fragmentation: Paper-based records make longitudinal tracking and cohort comparison slow.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•  High Equipment Cost: High-end optical motion capture labs are unaffordable for grassroots centres.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0424160"/>
            <a:ext cx="30723840" cy="9326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10424160"/>
            <a:ext cx="30723840" cy="914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⭐ END-TO-END SYSTEM WORKFLOW (THE 8-STEP OPERATIONAL PIPELINE)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11612880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01 — TRAINER SIGN IN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Secure login with credentials/OAuth. Enforces strict multi-trainer data isolation (trainer=request.user).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1612880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02 — ATHLETE SELECTION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Trainer registers a new athlete or selects an existing profile with sport, age, height, and weight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0" y="11612880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03 — EXERCISE SELECTION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Trainer chooses one of the 8 physical fitness tests (Vertical Jump, Broad Jump, Sit-ups, Sprint, etc.).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0" y="11612880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04 — MOVEMENT CAPTURE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Standard webcam captures video frames at 4 FPS (250ms interval) balancing responsiveness with CPU 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15270480"/>
            <a:ext cx="7132320" cy="3291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05 — POSE DETECTION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YOLO26-Pose extracts 17 body keypoints (shoulders, elbows, wrists, hips, knees, ankles) with confidence &gt; 0.5.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270480"/>
            <a:ext cx="7132320" cy="3291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06 — MOVEMENT ANALYSIS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Vector dot product computes joint angles. Dual-threshold state machine verifies reps and displacements.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0" y="15270480"/>
            <a:ext cx="7132320" cy="32918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07 — REAL-TIME RESULTS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Canvas displays skeleton overlay, live joint angles, completed repetitions, peak metrics &amp; score (0-100).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57280" y="15270480"/>
            <a:ext cx="7132320" cy="32918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1">
                <a:solidFill>
                  <a:srgbClr val="0A192F"/>
                </a:solidFill>
              </a:defRPr>
            </a:pPr>
            <a:r>
              <a:t>STEP 08 — SAVE &amp; REVIEW</a:t>
            </a: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t>Completed assessment persisted to SQLite/PostgreSQL. Instant updates to athlete history, charts &amp; team analytics.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20025360"/>
            <a:ext cx="1645920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20025360"/>
            <a:ext cx="164592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03 — EIGHT FITNESS EXERCISE 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2103120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Vertical Jump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Ankle Y-displacement from standing baseline (cm)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103120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Broad Jump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Takeoff-to-landing ankle X-displacement (cm)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2253996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Sit-ups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Hip angle (Shoulder-Hip-Knee); full UP/DOWN cycles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253996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Sit &amp; Reach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Maximum forward wrist reach past toe baseline (cm)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2404872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Sprint Test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Line crossing detection &amp; precision digital stopwatch (sec)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2404872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Medicine Ball Throw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Upper-body power via wrist release proxy tracking (cm)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2555748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Shuttle Run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Directional agility boundary crossings via hip position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555748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t>✔ Endurance Run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Stamina cadence monitoring through completed laps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105120" y="20025360"/>
            <a:ext cx="1371600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105120" y="20025360"/>
            <a:ext cx="137160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04 — BIOMECHANICAL MOVEMENT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0" y="20939760"/>
            <a:ext cx="129844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HOW AI UNDERSTANDS BODY MOVEMENT: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1. Keypoint Detection: Extracts 17 COCO landmarks (nose, eyes, ears, shoulders, elbows, wrists, hips, knees, ankles).</a:t>
            </a:r>
          </a:p>
          <a:p>
            <a:pPr>
              <a:defRPr sz="1400" b="1">
                <a:solidFill>
                  <a:srgbClr val="0A192F"/>
                </a:solidFill>
              </a:defRPr>
            </a:pPr>
            <a:r>
              <a:t>2. Vector Joint Angle Formula:</a:t>
            </a:r>
            <a:br/>
            <a:r>
              <a:t>     θ = arccos( (BA · BC) / (|BA| × |BC|) )</a:t>
            </a:r>
            <a:br/>
            <a:r>
              <a:t>   Calculates angle at joint B using dot product between vectors BA and BC.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3. State Machine Hysteresis:</a:t>
            </a:r>
            <a:br/>
            <a:r>
              <a:t>   Prevents false repetition counts near the threshold boundary.</a:t>
            </a:r>
            <a:br/>
            <a:r>
              <a:t>   • Sit-up Start: Torso angle &gt; 140°</a:t>
            </a:r>
            <a:br/>
            <a:r>
              <a:t>   • Up Stage: Torso angle &lt; 100°</a:t>
            </a:r>
            <a:br/>
            <a:r>
              <a:t>   • Count Rep: Return to &gt; 140°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27889200"/>
            <a:ext cx="30723840" cy="8961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97280" y="27889200"/>
            <a:ext cx="3072384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05 — PRODUCTION APPLICATION INTERFACES &amp; ASSESSMENT RESULTS</a:t>
            </a:r>
          </a:p>
        </p:txBody>
      </p:sp>
      <p:pic>
        <p:nvPicPr>
          <p:cNvPr id="41" name="Picture 40" descr="01-trainer-a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8895040"/>
            <a:ext cx="9692640" cy="58521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63040" y="34838640"/>
            <a:ext cx="9692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FIGURE 1: TRAINER DASHBOARD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Multi-athlete roster with live search, sport filtering, completed exercise count, and team assessment summaries.</a:t>
            </a:r>
          </a:p>
        </p:txBody>
      </p:sp>
      <p:pic>
        <p:nvPicPr>
          <p:cNvPr id="43" name="Picture 42" descr="09a-reports-trainer-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28895040"/>
            <a:ext cx="9692640" cy="58521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12880" y="34838640"/>
            <a:ext cx="9692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FIGURE 2: TEAM PERFORMANCE REPORTS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Team average scores, top 5 athletes, exercise-wise score distribution bars, and weakest fitness module identification.</a:t>
            </a:r>
          </a:p>
        </p:txBody>
      </p:sp>
      <p:pic>
        <p:nvPicPr>
          <p:cNvPr id="45" name="Picture 44" descr="Milestone 3_macro_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0" y="28895040"/>
            <a:ext cx="9692640" cy="58521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762720" y="34838640"/>
            <a:ext cx="9692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FIGURE 3: REAL-TIME POSE ESTIMATION &amp; EXERCISE ANALYSIS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Live webcam capture displaying YOLO26-Pose 17-keypoint skeleton extraction, joint-angle calculation, and real-time movement state analysis.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9728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06 — REAL-WORLD APPLICATIONS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38039040"/>
            <a:ext cx="9326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✔  Sports Academies: Objective athletic grading and talent identification.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✔  Schools &amp; Colleges: Standardized annual physical education fitness reports.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✔  Armed Forces / Police: Fatigue-free, automated physical eligibility tests.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✔  Physiotherapy Clinics: Rehabilitation recovery tracking &amp; range of motion.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52144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52144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07 — FUTURE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95760" y="38039040"/>
            <a:ext cx="9326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✦  Edge Device Acceleration: On-device mobile inference using WebAssembly/ONNX.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 Real-Time Voice Coaching: Live audio cues (e.g. 'Keep your back straight').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 Multi-Camera Triangulation: Dual-angle 3D skeletal tracking for rotational sports.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 National Database Integration: Export compliant with SAI / Khelo India standards.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0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194560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t>  08 — CONCLUSION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219920" y="38039040"/>
            <a:ext cx="9326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The AI-Powered Fitness Assessment Platform bridges sports science and artificial intelligence.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By replacing manual counting with YOLO-based 17-keypoint pose estimation, joint-angle mathematics, and Celery asynchronous queuing, the platform eliminates human error and fatigue. The system delivers an objective, accessible, and production-ready solution for coaches and athletes.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2793920"/>
            <a:ext cx="32918400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MADHAV INSTITUTE OF TECHNOLOGY &amp; SCIENCE, GWALIOR · GWALIOR VIGYAN MAHOTSAV 2026 · ABV-IIITM GWALIOR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42793920"/>
            <a:ext cx="32918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